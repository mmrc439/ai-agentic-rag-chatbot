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6" roundtripDataSignature="AMtx7mjw0eyjltg+I+icvce04hiBl6wVt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49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customschemas.google.com/relationships/presentationmetadata" Target="meta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7b6dcfa1fe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g37b6dcfa1fe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7b6dcfa1fe_0_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g37b6dcfa1fe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7b6dcfa1fe_0_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g37b6dcfa1fe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7b6dcfa1fe_0_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g37b6dcfa1fe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7b6dcfa1fe_0_2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g37b6dcfa1fe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7b6dcfa1fe_0_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g37b6dcfa1fe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7b6dcfa1fe_0_3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g37b6dcfa1fe_0_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7b6dcfa1fe_0_4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g37b6dcfa1fe_0_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7b6dcfa1fe_0_7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g37b6dcfa1fe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4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4762" y="0"/>
            <a:ext cx="12182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4"/>
          <p:cNvSpPr txBox="1">
            <a:spLocks noGrp="1"/>
          </p:cNvSpPr>
          <p:nvPr>
            <p:ph type="ctrTitle"/>
          </p:nvPr>
        </p:nvSpPr>
        <p:spPr>
          <a:xfrm>
            <a:off x="1113181" y="2761435"/>
            <a:ext cx="9965635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7200"/>
              <a:buFont typeface="Arial"/>
              <a:buNone/>
              <a:defRPr sz="72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6" name="Google Shape;16;p4"/>
          <p:cNvSpPr txBox="1">
            <a:spLocks noGrp="1"/>
          </p:cNvSpPr>
          <p:nvPr>
            <p:ph type="subTitle" idx="1"/>
          </p:nvPr>
        </p:nvSpPr>
        <p:spPr>
          <a:xfrm>
            <a:off x="1113180" y="5149035"/>
            <a:ext cx="9965635" cy="784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R="0" lvl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F99B28"/>
              </a:buClr>
              <a:buSzPts val="2200"/>
              <a:buFont typeface="Arial"/>
              <a:buNone/>
              <a:defRPr sz="2200" b="0" i="0" u="none" strike="noStrike" cap="none">
                <a:solidFill>
                  <a:srgbClr val="F99B2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ubtitle">
  <p:cSld name="Title and Sub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5"/>
          <p:cNvSpPr txBox="1">
            <a:spLocks noGrp="1"/>
          </p:cNvSpPr>
          <p:nvPr>
            <p:ph type="body" idx="1"/>
          </p:nvPr>
        </p:nvSpPr>
        <p:spPr>
          <a:xfrm>
            <a:off x="682813" y="2148840"/>
            <a:ext cx="10335707" cy="4033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3E8D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3E8D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3E8D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3E8D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3E8D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5"/>
          <p:cNvSpPr txBox="1">
            <a:spLocks noGrp="1"/>
          </p:cNvSpPr>
          <p:nvPr>
            <p:ph type="title"/>
          </p:nvPr>
        </p:nvSpPr>
        <p:spPr>
          <a:xfrm>
            <a:off x="682811" y="660839"/>
            <a:ext cx="10335707" cy="61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0" name="Google Shape;20;p5"/>
          <p:cNvSpPr txBox="1">
            <a:spLocks noGrp="1"/>
          </p:cNvSpPr>
          <p:nvPr>
            <p:ph type="body" idx="2"/>
          </p:nvPr>
        </p:nvSpPr>
        <p:spPr>
          <a:xfrm>
            <a:off x="682811" y="1394172"/>
            <a:ext cx="10335706" cy="56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4189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2241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Section Header">
  <p:cSld name="1_Section 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6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6"/>
          <p:cNvSpPr txBox="1">
            <a:spLocks noGrp="1"/>
          </p:cNvSpPr>
          <p:nvPr>
            <p:ph type="body" idx="1"/>
          </p:nvPr>
        </p:nvSpPr>
        <p:spPr>
          <a:xfrm>
            <a:off x="682811" y="2792413"/>
            <a:ext cx="10552113" cy="1366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6600"/>
              <a:buFont typeface="Arial"/>
              <a:buNone/>
              <a:defRPr sz="66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7"/>
          <p:cNvSpPr txBox="1">
            <a:spLocks noGrp="1"/>
          </p:cNvSpPr>
          <p:nvPr>
            <p:ph type="body" idx="1"/>
          </p:nvPr>
        </p:nvSpPr>
        <p:spPr>
          <a:xfrm>
            <a:off x="682811" y="1556792"/>
            <a:ext cx="10344853" cy="4608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810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3E8D"/>
              </a:buClr>
              <a:buSzPts val="2400"/>
              <a:buFont typeface="Noto Sans Symbols"/>
              <a:buChar char="▪"/>
              <a:defRPr sz="24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3E8D"/>
              </a:buClr>
              <a:buSzPts val="2000"/>
              <a:buFont typeface="Noto Sans Symbols"/>
              <a:buChar char="▪"/>
              <a:defRPr sz="2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3E8D"/>
              </a:buClr>
              <a:buSzPts val="1800"/>
              <a:buFont typeface="Noto Sans Symbols"/>
              <a:buChar char="▪"/>
              <a:defRPr sz="1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3E8D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302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C3E8D"/>
              </a:buClr>
              <a:buSzPts val="1600"/>
              <a:buFont typeface="Noto Sans Symbols"/>
              <a:buChar char="▪"/>
              <a:defRPr sz="16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7"/>
          <p:cNvSpPr txBox="1">
            <a:spLocks noGrp="1"/>
          </p:cNvSpPr>
          <p:nvPr>
            <p:ph type="title"/>
          </p:nvPr>
        </p:nvSpPr>
        <p:spPr>
          <a:xfrm>
            <a:off x="682811" y="660839"/>
            <a:ext cx="10344853" cy="61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2 columns text">
  <p:cSld name="Title and 2 columns tex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8"/>
          <p:cNvSpPr txBox="1">
            <a:spLocks noGrp="1"/>
          </p:cNvSpPr>
          <p:nvPr>
            <p:ph type="title"/>
          </p:nvPr>
        </p:nvSpPr>
        <p:spPr>
          <a:xfrm>
            <a:off x="682811" y="660839"/>
            <a:ext cx="9951783" cy="61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9" name="Google Shape;29;p8"/>
          <p:cNvSpPr txBox="1">
            <a:spLocks noGrp="1"/>
          </p:cNvSpPr>
          <p:nvPr>
            <p:ph type="body" idx="1"/>
          </p:nvPr>
        </p:nvSpPr>
        <p:spPr>
          <a:xfrm>
            <a:off x="682811" y="1667159"/>
            <a:ext cx="4816988" cy="185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0" name="Google Shape;30;p8"/>
          <p:cNvSpPr txBox="1">
            <a:spLocks noGrp="1"/>
          </p:cNvSpPr>
          <p:nvPr>
            <p:ph type="body" idx="2"/>
          </p:nvPr>
        </p:nvSpPr>
        <p:spPr>
          <a:xfrm>
            <a:off x="5649995" y="1667159"/>
            <a:ext cx="4816988" cy="185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3 columns text">
  <p:cSld name="Title and 3 columns tex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9"/>
          <p:cNvSpPr txBox="1">
            <a:spLocks noGrp="1"/>
          </p:cNvSpPr>
          <p:nvPr>
            <p:ph type="title"/>
          </p:nvPr>
        </p:nvSpPr>
        <p:spPr>
          <a:xfrm>
            <a:off x="682812" y="660839"/>
            <a:ext cx="9784174" cy="61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9"/>
          <p:cNvSpPr txBox="1">
            <a:spLocks noGrp="1"/>
          </p:cNvSpPr>
          <p:nvPr>
            <p:ph type="body" idx="1"/>
          </p:nvPr>
        </p:nvSpPr>
        <p:spPr>
          <a:xfrm>
            <a:off x="682811" y="1667159"/>
            <a:ext cx="3138091" cy="185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4" name="Google Shape;34;p9"/>
          <p:cNvSpPr txBox="1">
            <a:spLocks noGrp="1"/>
          </p:cNvSpPr>
          <p:nvPr>
            <p:ph type="body" idx="2"/>
          </p:nvPr>
        </p:nvSpPr>
        <p:spPr>
          <a:xfrm>
            <a:off x="7328894" y="1667159"/>
            <a:ext cx="3138091" cy="185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9"/>
          <p:cNvSpPr txBox="1">
            <a:spLocks noGrp="1"/>
          </p:cNvSpPr>
          <p:nvPr>
            <p:ph type="body" idx="3"/>
          </p:nvPr>
        </p:nvSpPr>
        <p:spPr>
          <a:xfrm>
            <a:off x="4005852" y="1667159"/>
            <a:ext cx="3138091" cy="185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head, Image and Content">
  <p:cSld name="Title, Subhead, Image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0"/>
          <p:cNvSpPr txBox="1">
            <a:spLocks noGrp="1"/>
          </p:cNvSpPr>
          <p:nvPr>
            <p:ph type="body" idx="1"/>
          </p:nvPr>
        </p:nvSpPr>
        <p:spPr>
          <a:xfrm>
            <a:off x="682811" y="1394172"/>
            <a:ext cx="9756022" cy="56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4189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2241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body" idx="2"/>
          </p:nvPr>
        </p:nvSpPr>
        <p:spPr>
          <a:xfrm>
            <a:off x="5649996" y="2420471"/>
            <a:ext cx="4816988" cy="185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9" name="Google Shape;39;p10"/>
          <p:cNvSpPr>
            <a:spLocks noGrp="1"/>
          </p:cNvSpPr>
          <p:nvPr>
            <p:ph type="pic" idx="3"/>
          </p:nvPr>
        </p:nvSpPr>
        <p:spPr>
          <a:xfrm>
            <a:off x="682811" y="2420471"/>
            <a:ext cx="4784725" cy="3624729"/>
          </a:xfrm>
          <a:prstGeom prst="rect">
            <a:avLst/>
          </a:prstGeom>
          <a:noFill/>
          <a:ln>
            <a:noFill/>
          </a:ln>
        </p:spPr>
      </p:sp>
      <p:sp>
        <p:nvSpPr>
          <p:cNvPr id="40" name="Google Shape;40;p10"/>
          <p:cNvSpPr txBox="1">
            <a:spLocks noGrp="1"/>
          </p:cNvSpPr>
          <p:nvPr>
            <p:ph type="title"/>
          </p:nvPr>
        </p:nvSpPr>
        <p:spPr>
          <a:xfrm>
            <a:off x="682812" y="660839"/>
            <a:ext cx="9784174" cy="61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2 Images">
  <p:cSld name="Title and 2 Image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>
            <a:spLocks noGrp="1"/>
          </p:cNvSpPr>
          <p:nvPr>
            <p:ph type="body" idx="1"/>
          </p:nvPr>
        </p:nvSpPr>
        <p:spPr>
          <a:xfrm>
            <a:off x="699247" y="5437790"/>
            <a:ext cx="4784724" cy="449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body" idx="2"/>
          </p:nvPr>
        </p:nvSpPr>
        <p:spPr>
          <a:xfrm>
            <a:off x="6026980" y="5437789"/>
            <a:ext cx="4784723" cy="44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4" name="Google Shape;44;p11"/>
          <p:cNvSpPr>
            <a:spLocks noGrp="1"/>
          </p:cNvSpPr>
          <p:nvPr>
            <p:ph type="pic" idx="3"/>
          </p:nvPr>
        </p:nvSpPr>
        <p:spPr>
          <a:xfrm>
            <a:off x="699247" y="1708103"/>
            <a:ext cx="4784725" cy="3624729"/>
          </a:xfrm>
          <a:prstGeom prst="rect">
            <a:avLst/>
          </a:prstGeom>
          <a:noFill/>
          <a:ln>
            <a:noFill/>
          </a:ln>
        </p:spPr>
      </p:sp>
      <p:sp>
        <p:nvSpPr>
          <p:cNvPr id="45" name="Google Shape;45;p11"/>
          <p:cNvSpPr>
            <a:spLocks noGrp="1"/>
          </p:cNvSpPr>
          <p:nvPr>
            <p:ph type="pic" idx="4"/>
          </p:nvPr>
        </p:nvSpPr>
        <p:spPr>
          <a:xfrm>
            <a:off x="6026981" y="1708103"/>
            <a:ext cx="4784725" cy="3624729"/>
          </a:xfrm>
          <a:prstGeom prst="rect">
            <a:avLst/>
          </a:prstGeom>
          <a:noFill/>
          <a:ln>
            <a:noFill/>
          </a:ln>
        </p:spPr>
      </p:sp>
      <p:sp>
        <p:nvSpPr>
          <p:cNvPr id="46" name="Google Shape;46;p11"/>
          <p:cNvSpPr txBox="1">
            <a:spLocks noGrp="1"/>
          </p:cNvSpPr>
          <p:nvPr>
            <p:ph type="title"/>
          </p:nvPr>
        </p:nvSpPr>
        <p:spPr>
          <a:xfrm>
            <a:off x="682811" y="660839"/>
            <a:ext cx="9951783" cy="61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3 Images">
  <p:cSld name="Title and 3 Images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2"/>
          <p:cNvSpPr txBox="1">
            <a:spLocks noGrp="1"/>
          </p:cNvSpPr>
          <p:nvPr>
            <p:ph type="title"/>
          </p:nvPr>
        </p:nvSpPr>
        <p:spPr>
          <a:xfrm>
            <a:off x="687728" y="660839"/>
            <a:ext cx="10308221" cy="61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1"/>
          </p:nvPr>
        </p:nvSpPr>
        <p:spPr>
          <a:xfrm>
            <a:off x="699247" y="4918712"/>
            <a:ext cx="3123453" cy="44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2"/>
          </p:nvPr>
        </p:nvSpPr>
        <p:spPr>
          <a:xfrm>
            <a:off x="4193750" y="4918712"/>
            <a:ext cx="3123453" cy="44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12"/>
          <p:cNvSpPr>
            <a:spLocks noGrp="1"/>
          </p:cNvSpPr>
          <p:nvPr>
            <p:ph type="pic" idx="3"/>
          </p:nvPr>
        </p:nvSpPr>
        <p:spPr>
          <a:xfrm>
            <a:off x="699247" y="1708103"/>
            <a:ext cx="3123453" cy="2978197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12"/>
          <p:cNvSpPr>
            <a:spLocks noGrp="1"/>
          </p:cNvSpPr>
          <p:nvPr>
            <p:ph type="pic" idx="4"/>
          </p:nvPr>
        </p:nvSpPr>
        <p:spPr>
          <a:xfrm>
            <a:off x="7688253" y="1714406"/>
            <a:ext cx="3123453" cy="2978197"/>
          </a:xfrm>
          <a:prstGeom prst="rect">
            <a:avLst/>
          </a:prstGeom>
          <a:noFill/>
          <a:ln>
            <a:noFill/>
          </a:ln>
        </p:spPr>
      </p:sp>
      <p:sp>
        <p:nvSpPr>
          <p:cNvPr id="53" name="Google Shape;53;p12"/>
          <p:cNvSpPr>
            <a:spLocks noGrp="1"/>
          </p:cNvSpPr>
          <p:nvPr>
            <p:ph type="pic" idx="5"/>
          </p:nvPr>
        </p:nvSpPr>
        <p:spPr>
          <a:xfrm>
            <a:off x="4193750" y="1714406"/>
            <a:ext cx="3123453" cy="2978197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2"/>
          <p:cNvSpPr txBox="1">
            <a:spLocks noGrp="1"/>
          </p:cNvSpPr>
          <p:nvPr>
            <p:ph type="body" idx="6"/>
          </p:nvPr>
        </p:nvSpPr>
        <p:spPr>
          <a:xfrm>
            <a:off x="7688253" y="4918712"/>
            <a:ext cx="3123453" cy="44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1 Images">
  <p:cSld name="Title and 1 Images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699246" y="5437790"/>
            <a:ext cx="10112455" cy="449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7" name="Google Shape;57;p13"/>
          <p:cNvSpPr>
            <a:spLocks noGrp="1"/>
          </p:cNvSpPr>
          <p:nvPr>
            <p:ph type="pic" idx="2"/>
          </p:nvPr>
        </p:nvSpPr>
        <p:spPr>
          <a:xfrm>
            <a:off x="699247" y="1708103"/>
            <a:ext cx="10112456" cy="3624729"/>
          </a:xfrm>
          <a:prstGeom prst="rect">
            <a:avLst/>
          </a:prstGeom>
          <a:noFill/>
          <a:ln>
            <a:noFill/>
          </a:ln>
        </p:spPr>
      </p:sp>
      <p:sp>
        <p:nvSpPr>
          <p:cNvPr id="58" name="Google Shape;58;p13"/>
          <p:cNvSpPr txBox="1">
            <a:spLocks noGrp="1"/>
          </p:cNvSpPr>
          <p:nvPr>
            <p:ph type="title"/>
          </p:nvPr>
        </p:nvSpPr>
        <p:spPr>
          <a:xfrm>
            <a:off x="687728" y="660839"/>
            <a:ext cx="10308221" cy="61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2 Charts">
  <p:cSld name="Title and 2 Charts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body" idx="1"/>
          </p:nvPr>
        </p:nvSpPr>
        <p:spPr>
          <a:xfrm>
            <a:off x="699247" y="5437790"/>
            <a:ext cx="4784724" cy="4497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2"/>
          </p:nvPr>
        </p:nvSpPr>
        <p:spPr>
          <a:xfrm>
            <a:off x="6026980" y="5437789"/>
            <a:ext cx="4784723" cy="449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2" name="Google Shape;62;p14"/>
          <p:cNvSpPr>
            <a:spLocks noGrp="1"/>
          </p:cNvSpPr>
          <p:nvPr>
            <p:ph type="chart" idx="3"/>
          </p:nvPr>
        </p:nvSpPr>
        <p:spPr>
          <a:xfrm>
            <a:off x="699247" y="1703131"/>
            <a:ext cx="4784724" cy="3624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3" name="Google Shape;63;p14"/>
          <p:cNvSpPr>
            <a:spLocks noGrp="1"/>
          </p:cNvSpPr>
          <p:nvPr>
            <p:ph type="chart" idx="4"/>
          </p:nvPr>
        </p:nvSpPr>
        <p:spPr>
          <a:xfrm>
            <a:off x="6026979" y="1714863"/>
            <a:ext cx="4784723" cy="3624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title"/>
          </p:nvPr>
        </p:nvSpPr>
        <p:spPr>
          <a:xfrm>
            <a:off x="687728" y="660839"/>
            <a:ext cx="10308221" cy="61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head, Chart and Content">
  <p:cSld name="Title, Subhead, Chart and Conten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>
            <a:spLocks noGrp="1"/>
          </p:cNvSpPr>
          <p:nvPr>
            <p:ph type="chart" idx="2"/>
          </p:nvPr>
        </p:nvSpPr>
        <p:spPr>
          <a:xfrm>
            <a:off x="682811" y="2420471"/>
            <a:ext cx="4784724" cy="3624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682811" y="1394172"/>
            <a:ext cx="9756022" cy="56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4189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2241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3"/>
          </p:nvPr>
        </p:nvSpPr>
        <p:spPr>
          <a:xfrm>
            <a:off x="5649996" y="2420471"/>
            <a:ext cx="4816988" cy="185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687728" y="660839"/>
            <a:ext cx="10308221" cy="61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, Subhead, Chart and Content 2">
  <p:cSld name="Title, Subhead, Chart and Content 2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>
            <a:spLocks noGrp="1"/>
          </p:cNvSpPr>
          <p:nvPr>
            <p:ph type="chart" idx="2"/>
          </p:nvPr>
        </p:nvSpPr>
        <p:spPr>
          <a:xfrm>
            <a:off x="5654109" y="2420471"/>
            <a:ext cx="4784724" cy="3624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3F3F3F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body" idx="1"/>
          </p:nvPr>
        </p:nvSpPr>
        <p:spPr>
          <a:xfrm>
            <a:off x="682811" y="1394172"/>
            <a:ext cx="9756022" cy="5603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224189"/>
              </a:buClr>
              <a:buSzPts val="3200"/>
              <a:buFont typeface="Arial"/>
              <a:buNone/>
              <a:defRPr sz="3200" b="0" i="0" u="none" strike="noStrike" cap="none">
                <a:solidFill>
                  <a:srgbClr val="224189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3"/>
          </p:nvPr>
        </p:nvSpPr>
        <p:spPr>
          <a:xfrm>
            <a:off x="682811" y="2420471"/>
            <a:ext cx="4816988" cy="18526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404040"/>
              </a:buClr>
              <a:buSzPts val="1800"/>
              <a:buFont typeface="Arial"/>
              <a:buNone/>
              <a:defRPr sz="18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687728" y="660839"/>
            <a:ext cx="10308221" cy="61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5000"/>
              <a:buFont typeface="Arial"/>
              <a:buNone/>
              <a:defRPr sz="5000" b="0" i="0" u="none" strike="noStrike" cap="none">
                <a:solidFill>
                  <a:srgbClr val="40404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Logo">
  <p:cSld name="Blank Logo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"/>
          <p:cNvSpPr/>
          <p:nvPr/>
        </p:nvSpPr>
        <p:spPr>
          <a:xfrm>
            <a:off x="1094230" y="6353207"/>
            <a:ext cx="217399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CA" sz="9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Confidential and © 2025 Kinectrics Inc.</a:t>
            </a:r>
            <a:endParaRPr sz="9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1;p3"/>
          <p:cNvSpPr txBox="1"/>
          <p:nvPr/>
        </p:nvSpPr>
        <p:spPr>
          <a:xfrm>
            <a:off x="682811" y="6311461"/>
            <a:ext cx="2743200" cy="365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 sz="1200" b="0" i="0" u="none" strike="noStrike" cap="none">
                <a:solidFill>
                  <a:srgbClr val="222A3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rgbClr val="222A3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" name="Google Shape;12;p3"/>
          <p:cNvPicPr preferRelativeResize="0"/>
          <p:nvPr/>
        </p:nvPicPr>
        <p:blipFill rotWithShape="1">
          <a:blip r:embed="rId16">
            <a:alphaModFix/>
          </a:blip>
          <a:srcRect/>
          <a:stretch/>
        </p:blipFill>
        <p:spPr>
          <a:xfrm>
            <a:off x="10846914" y="204734"/>
            <a:ext cx="1228164" cy="1228164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"/>
          <p:cNvSpPr txBox="1">
            <a:spLocks noGrp="1"/>
          </p:cNvSpPr>
          <p:nvPr>
            <p:ph type="ctrTitle"/>
          </p:nvPr>
        </p:nvSpPr>
        <p:spPr>
          <a:xfrm>
            <a:off x="1113181" y="2761435"/>
            <a:ext cx="9965635" cy="20483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404040"/>
              </a:buClr>
              <a:buSzPts val="2800"/>
              <a:buFont typeface="Arial"/>
              <a:buNone/>
            </a:pPr>
            <a:r>
              <a:rPr lang="en-CA" sz="2800" b="1"/>
              <a:t>(Agentic) RAG Chatbot</a:t>
            </a:r>
            <a:endParaRPr/>
          </a:p>
        </p:txBody>
      </p:sp>
      <p:sp>
        <p:nvSpPr>
          <p:cNvPr id="81" name="Google Shape;81;p1"/>
          <p:cNvSpPr txBox="1">
            <a:spLocks noGrp="1"/>
          </p:cNvSpPr>
          <p:nvPr>
            <p:ph type="subTitle" idx="1"/>
          </p:nvPr>
        </p:nvSpPr>
        <p:spPr>
          <a:xfrm>
            <a:off x="1113180" y="5149034"/>
            <a:ext cx="9965635" cy="1708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C3E8D"/>
              </a:buClr>
              <a:buSzPts val="2000"/>
              <a:buNone/>
            </a:pPr>
            <a:endParaRPr sz="1200" b="1">
              <a:solidFill>
                <a:srgbClr val="0C3E8D"/>
              </a:solidFill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C3E8D"/>
              </a:buClr>
              <a:buSzPts val="2000"/>
              <a:buNone/>
            </a:pPr>
            <a:r>
              <a:rPr lang="en-CA" sz="2000">
                <a:solidFill>
                  <a:srgbClr val="0C3E8D"/>
                </a:solidFill>
              </a:rPr>
              <a:t>21/08/25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"/>
          <p:cNvSpPr txBox="1">
            <a:spLocks noGrp="1"/>
          </p:cNvSpPr>
          <p:nvPr>
            <p:ph type="body" idx="1"/>
          </p:nvPr>
        </p:nvSpPr>
        <p:spPr>
          <a:xfrm>
            <a:off x="682811" y="1279224"/>
            <a:ext cx="10335707" cy="4033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228600" lvl="0" indent="-228600">
              <a:spcBef>
                <a:spcPts val="0"/>
              </a:spcBef>
            </a:pPr>
            <a:endParaRPr lang="en-CA" sz="1600" dirty="0"/>
          </a:p>
          <a:p>
            <a:pPr marL="228600" lvl="0" indent="-228600">
              <a:spcBef>
                <a:spcPts val="0"/>
              </a:spcBef>
            </a:pPr>
            <a:r>
              <a:rPr lang="en-CA" sz="1600" dirty="0"/>
              <a:t>What is RAG?</a:t>
            </a:r>
          </a:p>
          <a:p>
            <a:pPr marL="685800" lvl="1" indent="-228600">
              <a:spcBef>
                <a:spcPts val="0"/>
              </a:spcBef>
            </a:pPr>
            <a:r>
              <a:rPr lang="en-CA" sz="1600" dirty="0"/>
              <a:t>Search (Retrieval): Dense vector search over chunked sections along with keyword search using BM25 (+ optional doc-scope narrowing by </a:t>
            </a:r>
            <a:r>
              <a:rPr lang="en-CA" sz="1600" dirty="0" err="1"/>
              <a:t>last_target</a:t>
            </a:r>
            <a:r>
              <a:rPr lang="en-CA" sz="1600" dirty="0"/>
              <a:t>).</a:t>
            </a:r>
          </a:p>
          <a:p>
            <a:pPr marL="685800" lvl="1" indent="-228600">
              <a:spcBef>
                <a:spcPts val="0"/>
              </a:spcBef>
            </a:pPr>
            <a:r>
              <a:rPr lang="en-CA" sz="1600" dirty="0"/>
              <a:t>AI Answering (Generation): LLM composes answers strictly from retrieved evidence; cites exact section, printed page, and logical page.</a:t>
            </a:r>
          </a:p>
          <a:p>
            <a:pPr marL="685800" lvl="1" indent="-228600">
              <a:spcBef>
                <a:spcPts val="0"/>
              </a:spcBef>
            </a:pPr>
            <a:r>
              <a:rPr lang="en-CA" sz="1600" dirty="0"/>
              <a:t>Agentic Control: Each step can be toggled; failures fall back safely (e.g., broaden retrieval if seed not found).</a:t>
            </a:r>
          </a:p>
          <a:p>
            <a:pPr marL="0" lvl="0" indent="0">
              <a:spcBef>
                <a:spcPts val="0"/>
              </a:spcBef>
              <a:buNone/>
            </a:pPr>
            <a:endParaRPr lang="en-CA" sz="1600" dirty="0"/>
          </a:p>
          <a:p>
            <a:pPr marL="228600" lvl="0" indent="-228600">
              <a:spcBef>
                <a:spcPts val="0"/>
              </a:spcBef>
            </a:pPr>
            <a:endParaRPr lang="en-CA" sz="1600" dirty="0"/>
          </a:p>
          <a:p>
            <a:pPr marL="228600" lvl="0" indent="-228600">
              <a:spcBef>
                <a:spcPts val="0"/>
              </a:spcBef>
            </a:pPr>
            <a:r>
              <a:rPr lang="en-CA" sz="1600" dirty="0"/>
              <a:t>We have a production-style RAG that:</a:t>
            </a:r>
          </a:p>
          <a:p>
            <a:pPr marL="685800" lvl="1" indent="-228600">
              <a:spcBef>
                <a:spcPts val="0"/>
              </a:spcBef>
            </a:pPr>
            <a:r>
              <a:rPr lang="en-CA" sz="1600" dirty="0"/>
              <a:t>Parses PDF/DOCX with TOC-aware logic, captures </a:t>
            </a:r>
            <a:r>
              <a:rPr lang="en-CA" sz="1600" dirty="0" err="1"/>
              <a:t>section_path</a:t>
            </a:r>
            <a:r>
              <a:rPr lang="en-CA" sz="1600" dirty="0"/>
              <a:t>, </a:t>
            </a:r>
            <a:r>
              <a:rPr lang="en-CA" sz="1600" dirty="0" err="1"/>
              <a:t>page_label</a:t>
            </a:r>
            <a:r>
              <a:rPr lang="en-CA" sz="1600" dirty="0"/>
              <a:t> (Roman/Arabic), and modality (text/table/figure).</a:t>
            </a:r>
          </a:p>
          <a:p>
            <a:pPr marL="685800" lvl="1" indent="-228600">
              <a:spcBef>
                <a:spcPts val="0"/>
              </a:spcBef>
            </a:pPr>
            <a:r>
              <a:rPr lang="en-CA" sz="1600" dirty="0"/>
              <a:t>Uses an agent graph (retrieve → </a:t>
            </a:r>
            <a:r>
              <a:rPr lang="en-CA" sz="1600" dirty="0" err="1"/>
              <a:t>rerank</a:t>
            </a:r>
            <a:r>
              <a:rPr lang="en-CA" sz="1600" dirty="0"/>
              <a:t> → judge → clause locator → synthesize → cite) with debug traces.</a:t>
            </a:r>
          </a:p>
          <a:p>
            <a:pPr marL="685800" lvl="1" indent="-228600">
              <a:spcBef>
                <a:spcPts val="0"/>
              </a:spcBef>
            </a:pPr>
            <a:r>
              <a:rPr lang="en-CA" sz="1600" dirty="0"/>
              <a:t>Maintains conversation memory (last document scope + </a:t>
            </a:r>
            <a:r>
              <a:rPr lang="en-CA" sz="1600" dirty="0" err="1"/>
              <a:t>used_sources</a:t>
            </a:r>
            <a:r>
              <a:rPr lang="en-CA" sz="1600" dirty="0"/>
              <a:t>) so follow-ups stay anchored to the same file unless the user switches context.</a:t>
            </a:r>
          </a:p>
        </p:txBody>
      </p:sp>
      <p:sp>
        <p:nvSpPr>
          <p:cNvPr id="87" name="Google Shape;87;p2"/>
          <p:cNvSpPr txBox="1">
            <a:spLocks noGrp="1"/>
          </p:cNvSpPr>
          <p:nvPr>
            <p:ph type="title"/>
          </p:nvPr>
        </p:nvSpPr>
        <p:spPr>
          <a:xfrm>
            <a:off x="682811" y="660839"/>
            <a:ext cx="10335707" cy="61838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0"/>
              <a:buFont typeface="Arial"/>
              <a:buNone/>
            </a:pPr>
            <a:r>
              <a:rPr lang="en-CA"/>
              <a:t>Introduction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7b6dcfa1fe_0_0"/>
          <p:cNvSpPr txBox="1">
            <a:spLocks noGrp="1"/>
          </p:cNvSpPr>
          <p:nvPr>
            <p:ph type="body" idx="1"/>
          </p:nvPr>
        </p:nvSpPr>
        <p:spPr>
          <a:xfrm>
            <a:off x="682813" y="2148840"/>
            <a:ext cx="10335600" cy="40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</a:pPr>
            <a:r>
              <a:rPr lang="en-CA" dirty="0"/>
              <a:t>Trustworthy: Every claim ties back to verifiable citations (doc name, section path, page printed/index).</a:t>
            </a:r>
          </a:p>
          <a:p>
            <a:pPr marL="228600" lvl="0" indent="-228600">
              <a:spcBef>
                <a:spcPts val="0"/>
              </a:spcBef>
            </a:pPr>
            <a:endParaRPr lang="en-CA" dirty="0"/>
          </a:p>
          <a:p>
            <a:pPr marL="228600" lvl="0" indent="-228600">
              <a:spcBef>
                <a:spcPts val="0"/>
              </a:spcBef>
            </a:pPr>
            <a:r>
              <a:rPr lang="en-CA" dirty="0"/>
              <a:t>Context-aware</a:t>
            </a:r>
          </a:p>
          <a:p>
            <a:pPr marL="228600" lvl="0" indent="-228600">
              <a:spcBef>
                <a:spcPts val="0"/>
              </a:spcBef>
            </a:pPr>
            <a:endParaRPr lang="en-CA" dirty="0"/>
          </a:p>
          <a:p>
            <a:pPr marL="228600" lvl="0" indent="-228600">
              <a:spcBef>
                <a:spcPts val="0"/>
              </a:spcBef>
            </a:pPr>
            <a:r>
              <a:rPr lang="en-CA" dirty="0"/>
              <a:t>Structured: Extracts requirements, external refs, subtopics, and next questions to guide deeper analysis.</a:t>
            </a:r>
            <a:endParaRPr dirty="0"/>
          </a:p>
        </p:txBody>
      </p:sp>
      <p:sp>
        <p:nvSpPr>
          <p:cNvPr id="94" name="Google Shape;94;g37b6dcfa1fe_0_0"/>
          <p:cNvSpPr txBox="1">
            <a:spLocks noGrp="1"/>
          </p:cNvSpPr>
          <p:nvPr>
            <p:ph type="body" idx="2"/>
          </p:nvPr>
        </p:nvSpPr>
        <p:spPr>
          <a:xfrm>
            <a:off x="682836" y="765847"/>
            <a:ext cx="103356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4189"/>
              </a:buClr>
              <a:buSzPts val="3200"/>
              <a:buNone/>
            </a:pPr>
            <a:r>
              <a:rPr lang="en-CA" dirty="0"/>
              <a:t>Why it’s useful for querying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7b6dcfa1fe_0_6"/>
          <p:cNvSpPr txBox="1">
            <a:spLocks noGrp="1"/>
          </p:cNvSpPr>
          <p:nvPr>
            <p:ph type="body" idx="1"/>
          </p:nvPr>
        </p:nvSpPr>
        <p:spPr>
          <a:xfrm>
            <a:off x="682813" y="2148840"/>
            <a:ext cx="10335600" cy="40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</a:pPr>
            <a:r>
              <a:rPr lang="en-CA" dirty="0"/>
              <a:t>Enable fast, accurate Q&amp;A over multi-document project corpora (e.g., Agentic RAG WBS + related specs).</a:t>
            </a:r>
          </a:p>
          <a:p>
            <a:pPr marL="228600" lvl="0" indent="-228600">
              <a:spcBef>
                <a:spcPts val="0"/>
              </a:spcBef>
            </a:pPr>
            <a:endParaRPr lang="en-CA" dirty="0"/>
          </a:p>
          <a:p>
            <a:pPr marL="228600" lvl="0" indent="-228600">
              <a:spcBef>
                <a:spcPts val="0"/>
              </a:spcBef>
            </a:pPr>
            <a:r>
              <a:rPr lang="en-CA" dirty="0"/>
              <a:t>Preserve document structure to improve retrieval quality and explainability.</a:t>
            </a:r>
          </a:p>
          <a:p>
            <a:pPr marL="228600" lvl="0" indent="-228600">
              <a:spcBef>
                <a:spcPts val="0"/>
              </a:spcBef>
            </a:pPr>
            <a:endParaRPr lang="en-CA" dirty="0"/>
          </a:p>
          <a:p>
            <a:pPr marL="228600" lvl="0" indent="-228600">
              <a:spcBef>
                <a:spcPts val="0"/>
              </a:spcBef>
            </a:pPr>
            <a:r>
              <a:rPr lang="en-CA" dirty="0"/>
              <a:t>Provide actionable outputs (answers + sources + requirements + follow-ups) for PM/engineering workflows.</a:t>
            </a:r>
            <a:endParaRPr dirty="0"/>
          </a:p>
        </p:txBody>
      </p:sp>
      <p:sp>
        <p:nvSpPr>
          <p:cNvPr id="100" name="Google Shape;100;g37b6dcfa1fe_0_6"/>
          <p:cNvSpPr txBox="1">
            <a:spLocks noGrp="1"/>
          </p:cNvSpPr>
          <p:nvPr>
            <p:ph type="body" idx="2"/>
          </p:nvPr>
        </p:nvSpPr>
        <p:spPr>
          <a:xfrm>
            <a:off x="682836" y="805947"/>
            <a:ext cx="10335600" cy="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224189"/>
              </a:buClr>
              <a:buSzPts val="3200"/>
              <a:buNone/>
            </a:pPr>
            <a:r>
              <a:rPr lang="en-CA" dirty="0"/>
              <a:t>High-level objective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7b6dcfa1fe_0_12"/>
          <p:cNvSpPr txBox="1">
            <a:spLocks noGrp="1"/>
          </p:cNvSpPr>
          <p:nvPr>
            <p:ph type="title"/>
          </p:nvPr>
        </p:nvSpPr>
        <p:spPr>
          <a:xfrm>
            <a:off x="347536" y="310314"/>
            <a:ext cx="103356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0"/>
              <a:buFont typeface="Arial"/>
              <a:buNone/>
            </a:pPr>
            <a:r>
              <a:rPr lang="en-CA"/>
              <a:t>System Architecture</a:t>
            </a:r>
            <a:endParaRPr/>
          </a:p>
        </p:txBody>
      </p:sp>
      <p:pic>
        <p:nvPicPr>
          <p:cNvPr id="106" name="Google Shape;106;g37b6dcfa1fe_0_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07850" y="993176"/>
            <a:ext cx="10005453" cy="5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7b6dcfa1fe_0_18"/>
          <p:cNvSpPr txBox="1">
            <a:spLocks noGrp="1"/>
          </p:cNvSpPr>
          <p:nvPr>
            <p:ph type="body" idx="1"/>
          </p:nvPr>
        </p:nvSpPr>
        <p:spPr>
          <a:xfrm>
            <a:off x="682788" y="2148840"/>
            <a:ext cx="10335600" cy="40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>
              <a:spcBef>
                <a:spcPts val="0"/>
              </a:spcBef>
            </a:pPr>
            <a:r>
              <a:rPr lang="en-CA" dirty="0"/>
              <a:t>TOC-aware parsing (handles multi-page TOCs, </a:t>
            </a:r>
            <a:r>
              <a:rPr lang="en-CA" dirty="0" err="1"/>
              <a:t>Roman→Arabic</a:t>
            </a:r>
            <a:r>
              <a:rPr lang="en-CA" dirty="0"/>
              <a:t> transitions).</a:t>
            </a:r>
          </a:p>
          <a:p>
            <a:pPr marL="228600" lvl="0" indent="-228600">
              <a:spcBef>
                <a:spcPts val="0"/>
              </a:spcBef>
            </a:pPr>
            <a:endParaRPr lang="en-CA" dirty="0"/>
          </a:p>
          <a:p>
            <a:pPr marL="228600" lvl="0" indent="-228600">
              <a:spcBef>
                <a:spcPts val="0"/>
              </a:spcBef>
            </a:pPr>
            <a:r>
              <a:rPr lang="en-CA" dirty="0"/>
              <a:t>Precise citations: “Doc: §</a:t>
            </a:r>
            <a:r>
              <a:rPr lang="en-CA" dirty="0" err="1"/>
              <a:t>section_path</a:t>
            </a:r>
            <a:r>
              <a:rPr lang="en-CA" dirty="0"/>
              <a:t> “title” (page printed N) (page M)”.</a:t>
            </a:r>
          </a:p>
          <a:p>
            <a:pPr marL="228600" lvl="0" indent="-228600">
              <a:spcBef>
                <a:spcPts val="0"/>
              </a:spcBef>
            </a:pPr>
            <a:endParaRPr lang="en-CA" dirty="0"/>
          </a:p>
          <a:p>
            <a:pPr marL="228600" lvl="0" indent="-228600">
              <a:spcBef>
                <a:spcPts val="0"/>
              </a:spcBef>
            </a:pPr>
            <a:r>
              <a:rPr lang="en-CA" dirty="0"/>
              <a:t>Scoped follow-ups via </a:t>
            </a:r>
            <a:r>
              <a:rPr lang="en-CA" dirty="0" err="1"/>
              <a:t>last_target</a:t>
            </a:r>
            <a:r>
              <a:rPr lang="en-CA" dirty="0"/>
              <a:t> and </a:t>
            </a:r>
            <a:r>
              <a:rPr lang="en-CA" dirty="0" err="1"/>
              <a:t>used_sources</a:t>
            </a:r>
            <a:r>
              <a:rPr lang="en-CA" dirty="0"/>
              <a:t>.</a:t>
            </a:r>
          </a:p>
          <a:p>
            <a:pPr marL="228600" lvl="0" indent="-228600">
              <a:spcBef>
                <a:spcPts val="0"/>
              </a:spcBef>
            </a:pPr>
            <a:endParaRPr lang="en-CA" dirty="0"/>
          </a:p>
          <a:p>
            <a:pPr marL="228600" lvl="0" indent="-228600">
              <a:spcBef>
                <a:spcPts val="0"/>
              </a:spcBef>
            </a:pPr>
            <a:r>
              <a:rPr lang="en-CA" dirty="0"/>
              <a:t>Toggles: </a:t>
            </a:r>
            <a:r>
              <a:rPr lang="en-CA" dirty="0" err="1"/>
              <a:t>reranker</a:t>
            </a:r>
            <a:r>
              <a:rPr lang="en-CA" dirty="0"/>
              <a:t>, </a:t>
            </a:r>
            <a:r>
              <a:rPr lang="en-CA" dirty="0" err="1"/>
              <a:t>web_search</a:t>
            </a:r>
            <a:r>
              <a:rPr lang="en-CA" dirty="0"/>
              <a:t>, </a:t>
            </a:r>
            <a:r>
              <a:rPr lang="en-CA" dirty="0" err="1"/>
              <a:t>follow_up</a:t>
            </a:r>
            <a:r>
              <a:rPr lang="en-CA" dirty="0"/>
              <a:t>, </a:t>
            </a:r>
            <a:r>
              <a:rPr lang="en-CA" dirty="0" err="1"/>
              <a:t>clause_locator</a:t>
            </a:r>
            <a:r>
              <a:rPr lang="en-CA" dirty="0"/>
              <a:t>, </a:t>
            </a:r>
            <a:r>
              <a:rPr lang="en-CA" dirty="0" err="1"/>
              <a:t>req_extractor</a:t>
            </a:r>
            <a:r>
              <a:rPr lang="en-CA" dirty="0"/>
              <a:t>, </a:t>
            </a:r>
            <a:r>
              <a:rPr lang="en-CA" dirty="0" err="1"/>
              <a:t>external_refs</a:t>
            </a:r>
            <a:r>
              <a:rPr lang="en-CA" dirty="0"/>
              <a:t>, citations, </a:t>
            </a:r>
            <a:r>
              <a:rPr lang="en-CA" dirty="0" err="1"/>
              <a:t>topic_suggestion</a:t>
            </a:r>
            <a:r>
              <a:rPr lang="en-CA" dirty="0"/>
              <a:t>, memory.</a:t>
            </a:r>
          </a:p>
          <a:p>
            <a:pPr marL="228600" lvl="0" indent="-228600">
              <a:spcBef>
                <a:spcPts val="0"/>
              </a:spcBef>
            </a:pPr>
            <a:endParaRPr lang="en-CA" dirty="0"/>
          </a:p>
          <a:p>
            <a:pPr marL="228600" lvl="0" indent="-228600">
              <a:spcBef>
                <a:spcPts val="0"/>
              </a:spcBef>
            </a:pPr>
            <a:r>
              <a:rPr lang="en-CA" dirty="0"/>
              <a:t>Diagnostics: per-step trace with pool sizes/sim scores.</a:t>
            </a:r>
            <a:endParaRPr dirty="0"/>
          </a:p>
        </p:txBody>
      </p:sp>
      <p:sp>
        <p:nvSpPr>
          <p:cNvPr id="112" name="Google Shape;112;g37b6dcfa1fe_0_18"/>
          <p:cNvSpPr txBox="1">
            <a:spLocks noGrp="1"/>
          </p:cNvSpPr>
          <p:nvPr>
            <p:ph type="title"/>
          </p:nvPr>
        </p:nvSpPr>
        <p:spPr>
          <a:xfrm>
            <a:off x="682811" y="660839"/>
            <a:ext cx="103356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0"/>
              <a:buFont typeface="Arial"/>
              <a:buNone/>
            </a:pPr>
            <a:r>
              <a:rPr lang="en-CA" dirty="0"/>
              <a:t>Key Features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7b6dcfa1fe_0_24"/>
          <p:cNvSpPr txBox="1">
            <a:spLocks noGrp="1"/>
          </p:cNvSpPr>
          <p:nvPr>
            <p:ph type="body" idx="1"/>
          </p:nvPr>
        </p:nvSpPr>
        <p:spPr>
          <a:xfrm>
            <a:off x="682813" y="2148840"/>
            <a:ext cx="10335600" cy="40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 lnSpcReduction="20000"/>
          </a:bodyPr>
          <a:lstStyle/>
          <a:p>
            <a:pPr marL="228600" lvl="0" indent="-228600">
              <a:spcBef>
                <a:spcPts val="0"/>
              </a:spcBef>
            </a:pPr>
            <a:r>
              <a:rPr lang="en-CA" dirty="0"/>
              <a:t>Parsing: </a:t>
            </a:r>
            <a:r>
              <a:rPr lang="en-CA" dirty="0" err="1"/>
              <a:t>PyMuPDF</a:t>
            </a:r>
            <a:r>
              <a:rPr lang="en-CA" dirty="0"/>
              <a:t>, python-docx; heading/TOC normalization; page-label inference.</a:t>
            </a:r>
          </a:p>
          <a:p>
            <a:pPr marL="228600" lvl="0" indent="-228600">
              <a:spcBef>
                <a:spcPts val="0"/>
              </a:spcBef>
            </a:pPr>
            <a:endParaRPr lang="en-CA" dirty="0"/>
          </a:p>
          <a:p>
            <a:pPr marL="228600" lvl="0" indent="-228600">
              <a:spcBef>
                <a:spcPts val="0"/>
              </a:spcBef>
            </a:pPr>
            <a:r>
              <a:rPr lang="en-CA" dirty="0"/>
              <a:t>Chunking: token-bounded (e.g., 512 tokens, 50 overlap) with section-aware boundaries; modality captured for tables/figures.</a:t>
            </a:r>
          </a:p>
          <a:p>
            <a:pPr marL="228600" lvl="0" indent="-228600">
              <a:spcBef>
                <a:spcPts val="0"/>
              </a:spcBef>
            </a:pPr>
            <a:endParaRPr lang="en-CA" dirty="0"/>
          </a:p>
          <a:p>
            <a:pPr marL="228600" lvl="0" indent="-228600">
              <a:spcBef>
                <a:spcPts val="0"/>
              </a:spcBef>
            </a:pPr>
            <a:r>
              <a:rPr lang="en-CA" dirty="0"/>
              <a:t>Embeddings/Index: </a:t>
            </a:r>
            <a:r>
              <a:rPr lang="en-CA" dirty="0" err="1"/>
              <a:t>HuggingFace</a:t>
            </a:r>
            <a:r>
              <a:rPr lang="en-CA" dirty="0"/>
              <a:t> embeddings → </a:t>
            </a:r>
            <a:r>
              <a:rPr lang="en-CA" dirty="0" err="1"/>
              <a:t>chromadb</a:t>
            </a:r>
            <a:r>
              <a:rPr lang="en-CA" dirty="0"/>
              <a:t>; metadata filters for doc-scope retrieval.</a:t>
            </a:r>
          </a:p>
          <a:p>
            <a:pPr marL="228600" lvl="0" indent="-228600">
              <a:spcBef>
                <a:spcPts val="0"/>
              </a:spcBef>
            </a:pPr>
            <a:endParaRPr lang="en-CA" dirty="0"/>
          </a:p>
          <a:p>
            <a:pPr marL="228600" lvl="0" indent="-228600">
              <a:spcBef>
                <a:spcPts val="0"/>
              </a:spcBef>
            </a:pPr>
            <a:r>
              <a:rPr lang="en-CA" dirty="0"/>
              <a:t>Reranking: cosine-sim </a:t>
            </a:r>
            <a:r>
              <a:rPr lang="en-CA" dirty="0" err="1"/>
              <a:t>reranker</a:t>
            </a:r>
            <a:r>
              <a:rPr lang="en-CA" dirty="0"/>
              <a:t> before synthesis.</a:t>
            </a:r>
          </a:p>
          <a:p>
            <a:pPr marL="228600" lvl="0" indent="-228600">
              <a:spcBef>
                <a:spcPts val="0"/>
              </a:spcBef>
            </a:pPr>
            <a:endParaRPr lang="en-CA" dirty="0"/>
          </a:p>
          <a:p>
            <a:pPr marL="228600" lvl="0" indent="-228600">
              <a:spcBef>
                <a:spcPts val="0"/>
              </a:spcBef>
            </a:pPr>
            <a:r>
              <a:rPr lang="en-CA" dirty="0"/>
              <a:t>LLM: GPT-4o-mini (configurable to use local – Mistral 7B).</a:t>
            </a:r>
          </a:p>
          <a:p>
            <a:pPr marL="228600" lvl="0" indent="-228600">
              <a:spcBef>
                <a:spcPts val="0"/>
              </a:spcBef>
            </a:pPr>
            <a:endParaRPr lang="en-CA" dirty="0"/>
          </a:p>
          <a:p>
            <a:pPr marL="228600" lvl="0" indent="-228600">
              <a:spcBef>
                <a:spcPts val="0"/>
              </a:spcBef>
            </a:pPr>
            <a:r>
              <a:rPr lang="en-CA" dirty="0"/>
              <a:t>Memory I/O: app writes raw doc IDs (canonical source) to </a:t>
            </a:r>
            <a:r>
              <a:rPr lang="en-CA" dirty="0" err="1"/>
              <a:t>doc_ids</a:t>
            </a:r>
            <a:r>
              <a:rPr lang="en-CA" dirty="0"/>
              <a:t>; pretty source strings kept only for UI.</a:t>
            </a:r>
            <a:endParaRPr dirty="0"/>
          </a:p>
        </p:txBody>
      </p:sp>
      <p:sp>
        <p:nvSpPr>
          <p:cNvPr id="118" name="Google Shape;118;g37b6dcfa1fe_0_24"/>
          <p:cNvSpPr txBox="1">
            <a:spLocks noGrp="1"/>
          </p:cNvSpPr>
          <p:nvPr>
            <p:ph type="title"/>
          </p:nvPr>
        </p:nvSpPr>
        <p:spPr>
          <a:xfrm>
            <a:off x="682811" y="660839"/>
            <a:ext cx="103356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0"/>
              <a:buFont typeface="Arial"/>
              <a:buNone/>
            </a:pPr>
            <a:r>
              <a:rPr lang="en-CA"/>
              <a:t>Technical Implementation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7b6dcfa1fe_0_30"/>
          <p:cNvSpPr txBox="1">
            <a:spLocks noGrp="1"/>
          </p:cNvSpPr>
          <p:nvPr>
            <p:ph type="title"/>
          </p:nvPr>
        </p:nvSpPr>
        <p:spPr>
          <a:xfrm>
            <a:off x="682811" y="660839"/>
            <a:ext cx="103356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0"/>
              <a:buFont typeface="Arial"/>
              <a:buNone/>
            </a:pPr>
            <a:r>
              <a:rPr lang="en-CA"/>
              <a:t>Demo</a:t>
            </a:r>
            <a:endParaRPr/>
          </a:p>
        </p:txBody>
      </p:sp>
      <p:pic>
        <p:nvPicPr>
          <p:cNvPr id="124" name="Google Shape;124;g37b6dcfa1fe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12364"/>
            <a:ext cx="11887198" cy="201664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g37b6dcfa1fe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3562225"/>
            <a:ext cx="10760525" cy="3124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7b6dcfa1fe_0_36"/>
          <p:cNvSpPr txBox="1">
            <a:spLocks noGrp="1"/>
          </p:cNvSpPr>
          <p:nvPr>
            <p:ph type="body" idx="1"/>
          </p:nvPr>
        </p:nvSpPr>
        <p:spPr>
          <a:xfrm>
            <a:off x="682813" y="2148840"/>
            <a:ext cx="10335600" cy="40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lnSpcReduction="10000"/>
          </a:bodyPr>
          <a:lstStyle/>
          <a:p>
            <a:pPr marL="228600" lvl="0" indent="-228600">
              <a:spcBef>
                <a:spcPts val="0"/>
              </a:spcBef>
            </a:pPr>
            <a:r>
              <a:rPr lang="en-CA" dirty="0"/>
              <a:t>Scope loss on follow-ups: Don’t reset </a:t>
            </a:r>
            <a:r>
              <a:rPr lang="en-CA" dirty="0" err="1"/>
              <a:t>last_target</a:t>
            </a:r>
            <a:r>
              <a:rPr lang="en-CA" dirty="0"/>
              <a:t> on neutral queries; ensure </a:t>
            </a:r>
            <a:r>
              <a:rPr lang="en-CA" dirty="0" err="1"/>
              <a:t>used_sources</a:t>
            </a:r>
            <a:r>
              <a:rPr lang="en-CA" dirty="0"/>
              <a:t> returns canonical source.</a:t>
            </a:r>
          </a:p>
          <a:p>
            <a:pPr marL="228600" lvl="0" indent="-228600">
              <a:spcBef>
                <a:spcPts val="0"/>
              </a:spcBef>
            </a:pPr>
            <a:endParaRPr lang="en-CA" dirty="0"/>
          </a:p>
          <a:p>
            <a:pPr marL="228600" lvl="0" indent="-228600">
              <a:spcBef>
                <a:spcPts val="0"/>
              </a:spcBef>
            </a:pPr>
            <a:r>
              <a:rPr lang="en-CA" dirty="0"/>
              <a:t>Doc-ID mismatch: Store raw IDs (not pretty strings) in memory; unify on metadata["source"].</a:t>
            </a:r>
          </a:p>
          <a:p>
            <a:pPr marL="228600" lvl="0" indent="-228600">
              <a:spcBef>
                <a:spcPts val="0"/>
              </a:spcBef>
            </a:pPr>
            <a:endParaRPr lang="en-CA" dirty="0"/>
          </a:p>
          <a:p>
            <a:pPr marL="228600" lvl="0" indent="-228600">
              <a:spcBef>
                <a:spcPts val="0"/>
              </a:spcBef>
            </a:pPr>
            <a:r>
              <a:rPr lang="en-CA" dirty="0"/>
              <a:t>TOC spanning pages: Parse all TOC pages and stitch entries reliably.</a:t>
            </a:r>
          </a:p>
          <a:p>
            <a:pPr marL="228600" lvl="0" indent="-228600">
              <a:spcBef>
                <a:spcPts val="0"/>
              </a:spcBef>
            </a:pPr>
            <a:endParaRPr lang="en-CA" dirty="0"/>
          </a:p>
          <a:p>
            <a:pPr marL="228600" lvl="0" indent="-228600">
              <a:spcBef>
                <a:spcPts val="0"/>
              </a:spcBef>
            </a:pPr>
            <a:r>
              <a:rPr lang="en-CA" dirty="0"/>
              <a:t>Page label off-by-one: Normalize printed vs logical page indices; prefer printed label in citations.</a:t>
            </a:r>
          </a:p>
          <a:p>
            <a:pPr marL="228600" lvl="0" indent="-228600">
              <a:spcBef>
                <a:spcPts val="0"/>
              </a:spcBef>
            </a:pPr>
            <a:endParaRPr lang="en-CA" dirty="0"/>
          </a:p>
          <a:p>
            <a:pPr marL="228600" lvl="0" indent="-228600">
              <a:spcBef>
                <a:spcPts val="0"/>
              </a:spcBef>
            </a:pPr>
            <a:r>
              <a:rPr lang="en-CA" dirty="0"/>
              <a:t>Heading vs numbered list: Avoid false positives by cross-checking with TOC and font/layout signals.</a:t>
            </a:r>
            <a:endParaRPr dirty="0"/>
          </a:p>
        </p:txBody>
      </p:sp>
      <p:sp>
        <p:nvSpPr>
          <p:cNvPr id="131" name="Google Shape;131;g37b6dcfa1fe_0_36"/>
          <p:cNvSpPr txBox="1">
            <a:spLocks noGrp="1"/>
          </p:cNvSpPr>
          <p:nvPr>
            <p:ph type="title"/>
          </p:nvPr>
        </p:nvSpPr>
        <p:spPr>
          <a:xfrm>
            <a:off x="682811" y="660839"/>
            <a:ext cx="103356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0"/>
              <a:buFont typeface="Arial"/>
              <a:buNone/>
            </a:pPr>
            <a:r>
              <a:rPr lang="en-CA"/>
              <a:t>Challenges &amp; Fixes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7b6dcfa1fe_0_42"/>
          <p:cNvSpPr txBox="1">
            <a:spLocks noGrp="1"/>
          </p:cNvSpPr>
          <p:nvPr>
            <p:ph type="body" idx="1"/>
          </p:nvPr>
        </p:nvSpPr>
        <p:spPr>
          <a:xfrm>
            <a:off x="682813" y="2148840"/>
            <a:ext cx="10335600" cy="40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22860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400"/>
              <a:buFont typeface="Noto Sans Symbols"/>
              <a:buChar char="▪"/>
            </a:pPr>
            <a:r>
              <a:rPr lang="en-CA" dirty="0">
                <a:solidFill>
                  <a:schemeClr val="tx1"/>
                </a:solidFill>
              </a:rPr>
              <a:t>Analytics</a:t>
            </a:r>
            <a:endParaRPr dirty="0">
              <a:solidFill>
                <a:schemeClr val="tx1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▪"/>
            </a:pPr>
            <a:r>
              <a:rPr lang="en-CA" dirty="0">
                <a:solidFill>
                  <a:schemeClr val="tx1"/>
                </a:solidFill>
              </a:rPr>
              <a:t>Analytics/visuals for managing uploaded documents better</a:t>
            </a:r>
            <a:endParaRPr dirty="0">
              <a:solidFill>
                <a:schemeClr val="tx1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▪"/>
            </a:pPr>
            <a:r>
              <a:rPr lang="en-CA" dirty="0">
                <a:solidFill>
                  <a:schemeClr val="tx1"/>
                </a:solidFill>
              </a:rPr>
              <a:t>Analytics for OpenAI </a:t>
            </a:r>
            <a:r>
              <a:rPr lang="en-CA" dirty="0" err="1">
                <a:solidFill>
                  <a:schemeClr val="tx1"/>
                </a:solidFill>
              </a:rPr>
              <a:t>api</a:t>
            </a:r>
            <a:r>
              <a:rPr lang="en-CA" dirty="0">
                <a:solidFill>
                  <a:schemeClr val="tx1"/>
                </a:solidFill>
              </a:rPr>
              <a:t> usage (average rpm etc.)</a:t>
            </a:r>
            <a:endParaRPr dirty="0">
              <a:solidFill>
                <a:schemeClr val="tx1"/>
              </a:solidFill>
            </a:endParaRPr>
          </a:p>
          <a:p>
            <a:pPr marL="685800" lvl="1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000"/>
              <a:buChar char="▪"/>
            </a:pPr>
            <a:endParaRPr lang="en-CA" dirty="0">
              <a:solidFill>
                <a:schemeClr val="tx1"/>
              </a:solidFill>
            </a:endParaRPr>
          </a:p>
          <a:p>
            <a:pPr marL="228600" indent="-228600">
              <a:spcBef>
                <a:spcPts val="0"/>
              </a:spcBef>
              <a:buClr>
                <a:srgbClr val="FF0000"/>
              </a:buClr>
              <a:buSzPts val="2000"/>
            </a:pPr>
            <a:r>
              <a:rPr lang="en-CA" dirty="0">
                <a:solidFill>
                  <a:schemeClr val="tx1"/>
                </a:solidFill>
              </a:rPr>
              <a:t>Memory fixes</a:t>
            </a:r>
          </a:p>
          <a:p>
            <a:pPr marL="228600" indent="-228600">
              <a:spcBef>
                <a:spcPts val="0"/>
              </a:spcBef>
              <a:buClr>
                <a:srgbClr val="FF0000"/>
              </a:buClr>
              <a:buSzPts val="2000"/>
            </a:pPr>
            <a:endParaRPr lang="en-IN" dirty="0">
              <a:solidFill>
                <a:schemeClr val="tx1"/>
              </a:solidFill>
            </a:endParaRPr>
          </a:p>
          <a:p>
            <a:pPr marL="228600" indent="-228600">
              <a:spcBef>
                <a:spcPts val="0"/>
              </a:spcBef>
              <a:buClr>
                <a:srgbClr val="FF0000"/>
              </a:buClr>
              <a:buSzPts val="2000"/>
            </a:pPr>
            <a:r>
              <a:rPr lang="en-IN" dirty="0">
                <a:solidFill>
                  <a:schemeClr val="tx1"/>
                </a:solidFill>
              </a:rPr>
              <a:t>Entity-aware memory (people/tasks/dates) to answer richer follow-ups.</a:t>
            </a:r>
          </a:p>
          <a:p>
            <a:pPr marL="228600" indent="-228600">
              <a:spcBef>
                <a:spcPts val="0"/>
              </a:spcBef>
              <a:buClr>
                <a:srgbClr val="FF0000"/>
              </a:buClr>
              <a:buSzPts val="2000"/>
            </a:pPr>
            <a:endParaRPr lang="en-IN" dirty="0">
              <a:solidFill>
                <a:schemeClr val="tx1"/>
              </a:solidFill>
            </a:endParaRPr>
          </a:p>
          <a:p>
            <a:pPr marL="228600" indent="-228600">
              <a:spcBef>
                <a:spcPts val="0"/>
              </a:spcBef>
              <a:buClr>
                <a:srgbClr val="FF0000"/>
              </a:buClr>
              <a:buSzPts val="2000"/>
            </a:pPr>
            <a:r>
              <a:rPr lang="en-IN" dirty="0">
                <a:solidFill>
                  <a:schemeClr val="tx1"/>
                </a:solidFill>
              </a:rPr>
              <a:t>Evaluation harness (cross check answers before sending response to UI).</a:t>
            </a:r>
          </a:p>
          <a:p>
            <a:pPr marL="228600" indent="-228600">
              <a:spcBef>
                <a:spcPts val="0"/>
              </a:spcBef>
              <a:buClr>
                <a:srgbClr val="FF0000"/>
              </a:buClr>
              <a:buSzPts val="2000"/>
            </a:pPr>
            <a:endParaRPr lang="en-IN" dirty="0">
              <a:solidFill>
                <a:schemeClr val="tx1"/>
              </a:solidFill>
            </a:endParaRPr>
          </a:p>
          <a:p>
            <a:pPr marL="228600" indent="-228600">
              <a:spcBef>
                <a:spcPts val="0"/>
              </a:spcBef>
              <a:buClr>
                <a:srgbClr val="FF0000"/>
              </a:buClr>
              <a:buSzPts val="2000"/>
            </a:pPr>
            <a:r>
              <a:rPr lang="en-IN" dirty="0">
                <a:solidFill>
                  <a:schemeClr val="tx1"/>
                </a:solidFill>
              </a:rPr>
              <a:t>Support more formats (txt/rtf/xlsx/csv) with consistent metadata schemas.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137" name="Google Shape;137;g37b6dcfa1fe_0_42"/>
          <p:cNvSpPr txBox="1">
            <a:spLocks noGrp="1"/>
          </p:cNvSpPr>
          <p:nvPr>
            <p:ph type="title"/>
          </p:nvPr>
        </p:nvSpPr>
        <p:spPr>
          <a:xfrm>
            <a:off x="682811" y="660839"/>
            <a:ext cx="103356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0"/>
              <a:buFont typeface="Arial"/>
              <a:buNone/>
            </a:pPr>
            <a:r>
              <a:rPr lang="en-CA"/>
              <a:t>Next Steps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7b6dcfa1fe_0_70"/>
          <p:cNvSpPr txBox="1">
            <a:spLocks noGrp="1"/>
          </p:cNvSpPr>
          <p:nvPr>
            <p:ph type="body" idx="1"/>
          </p:nvPr>
        </p:nvSpPr>
        <p:spPr>
          <a:xfrm>
            <a:off x="682813" y="2148840"/>
            <a:ext cx="10335600" cy="403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>
              <a:spcBef>
                <a:spcPts val="0"/>
              </a:spcBef>
              <a:buClr>
                <a:srgbClr val="000000"/>
              </a:buClr>
              <a:buNone/>
            </a:pPr>
            <a:r>
              <a:rPr lang="en-US" dirty="0">
                <a:solidFill>
                  <a:srgbClr val="000000"/>
                </a:solidFill>
              </a:rPr>
              <a:t>An agentic, structure-aware RAG that keeps conversation anchored to documents, returns audit-ready citations, and exposes transparent traces, making it reliable for real project workflows.</a:t>
            </a:r>
            <a:endParaRPr dirty="0">
              <a:solidFill>
                <a:srgbClr val="000000"/>
              </a:solidFill>
            </a:endParaRPr>
          </a:p>
        </p:txBody>
      </p:sp>
      <p:sp>
        <p:nvSpPr>
          <p:cNvPr id="143" name="Google Shape;143;g37b6dcfa1fe_0_70"/>
          <p:cNvSpPr txBox="1">
            <a:spLocks noGrp="1"/>
          </p:cNvSpPr>
          <p:nvPr>
            <p:ph type="title"/>
          </p:nvPr>
        </p:nvSpPr>
        <p:spPr>
          <a:xfrm>
            <a:off x="682811" y="660839"/>
            <a:ext cx="10335600" cy="6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000"/>
              <a:buFont typeface="Arial"/>
              <a:buNone/>
            </a:pPr>
            <a:r>
              <a:rPr lang="en-CA" dirty="0"/>
              <a:t>Conclusion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652</Words>
  <Application>Microsoft Office PowerPoint</Application>
  <PresentationFormat>Widescreen</PresentationFormat>
  <Paragraphs>75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Noto Sans Symbols</vt:lpstr>
      <vt:lpstr>Office Theme</vt:lpstr>
      <vt:lpstr>(Agentic) RAG Chatbot</vt:lpstr>
      <vt:lpstr>Introduction</vt:lpstr>
      <vt:lpstr>PowerPoint Presentation</vt:lpstr>
      <vt:lpstr>PowerPoint Presentation</vt:lpstr>
      <vt:lpstr>System Architecture</vt:lpstr>
      <vt:lpstr>Key Features</vt:lpstr>
      <vt:lpstr>Technical Implementation</vt:lpstr>
      <vt:lpstr>Demo</vt:lpstr>
      <vt:lpstr>Challenges &amp; Fixes</vt:lpstr>
      <vt:lpstr>Next Steps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MIGNONE Lori</dc:creator>
  <cp:lastModifiedBy>Manan Arora</cp:lastModifiedBy>
  <cp:revision>1</cp:revision>
  <dcterms:created xsi:type="dcterms:W3CDTF">2019-06-25T14:31:02Z</dcterms:created>
  <dcterms:modified xsi:type="dcterms:W3CDTF">2025-08-21T14:50:24Z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0x0101001922A43F96EA244881FB1857CFBC3021</vt:lpwstr>
  </property>
  <property fmtid="{D5CDD505-2E9C-101B-9397-08002B2CF9AE}" pid="3" name="_dlc_DocIdItemGuid">
    <vt:lpwstr>0923a876-dd3c-4130-8736-eefdcd5a13e6</vt:lpwstr>
  </property>
  <property fmtid="{D5CDD505-2E9C-101B-9397-08002B2CF9AE}" pid="4" name="WorkflowChangePath">
    <vt:lpwstr>c416a496-7f36-48ba-a964-ca58002a86aa,2;392fb1f8-b9d9-43fd-b1bb-948a868a0f9d,3;392fb1f8-b9d9-43fd-b1bb-948a868a0f9d,5;</vt:lpwstr>
  </property>
  <property fmtid="{D5CDD505-2E9C-101B-9397-08002B2CF9AE}" pid="5" name="Document ID Value">
    <vt:lpwstr>SNVP5WXHC7M7-1491922593-1443</vt:lpwstr>
  </property>
  <property fmtid="{D5CDD505-2E9C-101B-9397-08002B2CF9AE}" pid="6" name="xd_ProgID">
    <vt:lpwstr/>
  </property>
  <property fmtid="{D5CDD505-2E9C-101B-9397-08002B2CF9AE}" pid="7" name="ComplianceAssetId">
    <vt:lpwstr/>
  </property>
  <property fmtid="{D5CDD505-2E9C-101B-9397-08002B2CF9AE}" pid="8" name="TemplateUrl">
    <vt:lpwstr/>
  </property>
  <property fmtid="{D5CDD505-2E9C-101B-9397-08002B2CF9AE}" pid="9" name="_ExtendedDescription">
    <vt:lpwstr/>
  </property>
  <property fmtid="{D5CDD505-2E9C-101B-9397-08002B2CF9AE}" pid="10" name="TriggerFlowInfo">
    <vt:lpwstr/>
  </property>
  <property fmtid="{D5CDD505-2E9C-101B-9397-08002B2CF9AE}" pid="11" name="xd_Signature">
    <vt:bool>false</vt:bool>
  </property>
  <property fmtid="{D5CDD505-2E9C-101B-9397-08002B2CF9AE}" pid="12" name="_SharedFileIndex">
    <vt:lpwstr/>
  </property>
  <property fmtid="{D5CDD505-2E9C-101B-9397-08002B2CF9AE}" pid="13" name="_SourceUrl">
    <vt:lpwstr/>
  </property>
  <property fmtid="{D5CDD505-2E9C-101B-9397-08002B2CF9AE}" pid="14" name="MediaServiceImageTags">
    <vt:lpwstr/>
  </property>
</Properties>
</file>